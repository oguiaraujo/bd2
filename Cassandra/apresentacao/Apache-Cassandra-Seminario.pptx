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se apresentar e ao tema. Mencionar que o Cassandra é um banco NoSQL usado por empresas como Netflix, Apple e Instagram para lidar com escala massiva de dados. Contextualizar que esta é a proposta do seminário, com modelagem e demonstração prática de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rapidamente o roteiro: do problema (por que NoSQL) até a demonstração prática de CRUD, terminando com quando vale a pena usar o Cassandra.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que não existe banco 'melhor' - relacionais continuam ótimos para a maioria dos casos. O Cassandra entra quando o volume e a velocidade de leitura/escrita ultrapassam o que um único servidor relacional comporta confortavelmente.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a história: o Cassandra nasceu dentro do Facebook em 2008, misturando ideias do Dynamo (Amazon) e do BigTable (Google). Hoje é projeto da Apache Software Foundation, usado por empresas como Netflix, Apple e Instagram. Destacar a arquitetura em anel: todos os nós são iguais, não existe um servidor 'mestre' controlando os outros — por isso não há ponto único de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diferença prática: no relacional, separamos os dados em várias tabelas pequenas e juntamos com JOIN na hora da consulta. No Cassandra, juntamos tudo numa única linha larga — a leitura fica praticamente instantânea porque não precisa cruzar tabelas.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conceito mais estranho para quem vem do mundo relacional: vamos duplicar dados de propósito. A mesma informação do filme aparece em 3 tabelas diferentes, cada uma pensada para responder a uma pergunta específica da aplicação.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Tranquilizar a audiência: a sintaxe do dia a dia é quase idêntica ao SQL. A grande diferença está em COMO modelamos as tabelas antes, e não em como escrevemos os comandos.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cenário da demonstração prática: um catálogo de streaming simples, com filmes e séries. Vamos usar isso para mostrar a modelagem orientada a consulta e as operações de CRUD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as 3 tabelas e a pergunta que cada uma responde. Enfatizar: a mesma informação do filme está nas 3, só que organizada de forma diferente em cada uma, de acordo com a consulta que ela atende.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conceito-chave da aula: a partition key decide ONDE os dados ficam guardados no cluster; a clustering key decide a ORDEM dentro daquela partição. Pode usar a analogia de um armário com gavetas: a partition key escolhe a gaveta, a clustering key organiza a ordem dentro da gaveta.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(ao vivo ou em vídeo) a inserção do filme 'Duna' nas 3 tabelas de uma só vez, usando BATCH. Explicar que BATCH aqui não é uma transação ACID como em bancos relacionais — apenas agrupa as instruções para serem aplicadas em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 consulta eficiente primeiro (usando a partition key) e depois o contraste com ALLOW FILTERING, explicando por que isso é desencorajado em produção: o cluster precisa varrer todos os nós para encontrar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 atualização da nota do filme Matrix e a adição de um ator à lista de elenco (mostrando que coleções podem ser atualizadas de forma incremental, sem reescrever a lista inteira). Depois mostrar a remoção do título 'The Office' das 3 tabelas via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as duas formas de rodar o ambiente (Docker local ou Astra DB na nuvem) e mostrar rapidamente o repositório no GitHub, com a proposta, os scripts .cql, os dados de teste e o guia de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a mensagem central do seminário: não existe banco perfeito, existe o banco adequado para cada problema. O Cassandra brilha em escrita/leitura massiva e alta disponibilidade; perde força quando o sistema depende de relatórios variados ou de transações ACID complexas.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Citar a fonte consultada e reforçar que o repositório completo (proposta, scripts, dados de teste e guia de execução) está disponível no GitHub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e abrir para perguntas. Se sobrar tempo, oferecer para mostrar algum trecho do repositório no GitHub ou repetir alguma parte da demonstração de CRUD.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3017520"/>
            <a:ext cx="750652" cy="361495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05932" y="3379015"/>
            <a:ext cx="185396" cy="812272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91328" y="4191287"/>
            <a:ext cx="-519467" cy="651391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71860" y="4842678"/>
            <a:ext cx="-833161" cy="0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38700" y="4842678"/>
            <a:ext cx="-519467" cy="-651391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19232" y="4191287"/>
            <a:ext cx="185396" cy="-812272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04628" y="3379015"/>
            <a:ext cx="750652" cy="-361495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82128" y="2944368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32780" y="3305863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18176" y="4118135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98708" y="4769526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65548" y="4769526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6080" y="4118135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1476" y="3305863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3474720"/>
            <a:ext cx="478305" cy="347509"/>
          </a:xfrm>
          <a:prstGeom prst="line">
            <a:avLst/>
          </a:prstGeom>
          <a:noFill/>
          <a:ln w="15875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33585" y="3822229"/>
            <a:ext cx="-182696" cy="562282"/>
          </a:xfrm>
          <a:prstGeom prst="line">
            <a:avLst/>
          </a:prstGeom>
          <a:noFill/>
          <a:ln w="15875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50889" y="4384511"/>
            <a:ext cx="-591218" cy="0"/>
          </a:xfrm>
          <a:prstGeom prst="line">
            <a:avLst/>
          </a:prstGeom>
          <a:noFill/>
          <a:ln w="15875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59671" y="4384511"/>
            <a:ext cx="-182696" cy="-562282"/>
          </a:xfrm>
          <a:prstGeom prst="line">
            <a:avLst/>
          </a:prstGeom>
          <a:noFill/>
          <a:ln w="15875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6975" y="3822229"/>
            <a:ext cx="478305" cy="-347509"/>
          </a:xfrm>
          <a:prstGeom prst="line">
            <a:avLst/>
          </a:prstGeom>
          <a:noFill/>
          <a:ln w="15875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82128" y="3401568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0433" y="3749077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77737" y="4311359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6519" y="4311359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3823" y="3749077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BANCO DE DADOS  ·  SEMINÁRIO S1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16002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Cassandra</a:t>
            </a:r>
            <a:endParaRPr lang="en-US" sz="5000" dirty="0"/>
          </a:p>
        </p:txBody>
      </p:sp>
      <p:sp>
        <p:nvSpPr>
          <p:cNvPr id="28" name="Text 26"/>
          <p:cNvSpPr/>
          <p:nvPr/>
        </p:nvSpPr>
        <p:spPr>
          <a:xfrm>
            <a:off x="64008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e Modelagem Prática em um Banco NoSQL Colunar</a:t>
            </a:r>
            <a:endParaRPr lang="en-US" sz="19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70832"/>
            <a:ext cx="237744" cy="23774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87552" y="43342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Kaio Márcio Araújo Cavalcante Lira   ·   Jose Guilherme Silva de Araujo   ·   Leandro Sergio da Silva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APRESENTAÇÃO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739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627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 problema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89888" y="19568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bancos relacionais não bastam para certas escalas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16642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7739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96128" y="1627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Apache Cassandra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96128" y="195681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Origem, mantenedor e arquitetura distribuída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624328"/>
            <a:ext cx="3931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282549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93522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Conceitos-chave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89888" y="31181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largas, desnormalização e a linguagem CQL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2624328"/>
            <a:ext cx="3931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56048" y="282549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93522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96128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Modelagem prática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96128" y="311810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catálogo de filmes e séries orientado a consultas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3785616"/>
            <a:ext cx="3931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98678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09651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3950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Demonstração CRUD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389888" y="42793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 e Delete em CQL, ao vivo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754880" y="3785616"/>
            <a:ext cx="3931920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56048" y="398678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409651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96128" y="3950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Conclusão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596128" y="42793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vale a pena escolher o Cassandra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NoSQL?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de dados em aplicações modernas cresce de forma exponencial. Bancos relacionais tradicionais, otimizados para consistência, encontram limites de escalabilidade nesse cenário.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8862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4981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77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Relacionais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 verticalmente (mais CPU/RAM em uma única máquina)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Fortes em consistência e integridade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complexidade crescem rápido em escala muito grande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2148840"/>
            <a:ext cx="3886200" cy="2331720"/>
          </a:xfrm>
          <a:prstGeom prst="roundRect">
            <a:avLst>
              <a:gd name="adj" fmla="val 3137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3774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249814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377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NoSQL (Cassandra)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983480" y="3017520"/>
            <a:ext cx="3337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 horizontalmente (mais máquinas no cluster)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Feitos para grandes volumes distribuídos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 alta disponibilidade e velocidade de leitura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SGBD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Cassandra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distribuído, NoSQL e orientado a colunas, focado em </a:t>
            </a:r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disponibilidade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rápida em larga escala</a:t>
            </a:r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mesmo com terabytes de dados distribuídos.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2487900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377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51560" y="26700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originalmente pelo Facebook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090672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3182844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0723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Software Foundation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051560" y="33649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projeto atualmente, como código aberto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3877788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7673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em anel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051560" y="40599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Peer-to-peer, sem nó mestre nem ponto único de falha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949440" y="1645920"/>
            <a:ext cx="989867" cy="571500"/>
          </a:xfrm>
          <a:prstGeom prst="line">
            <a:avLst/>
          </a:prstGeom>
          <a:noFill/>
          <a:ln w="1587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939307" y="2217420"/>
            <a:ext cx="0" cy="1143000"/>
          </a:xfrm>
          <a:prstGeom prst="line">
            <a:avLst/>
          </a:prstGeom>
          <a:noFill/>
          <a:ln w="1587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939307" y="3360420"/>
            <a:ext cx="-989867" cy="571500"/>
          </a:xfrm>
          <a:prstGeom prst="line">
            <a:avLst/>
          </a:prstGeom>
          <a:noFill/>
          <a:ln w="1587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0" y="3931920"/>
            <a:ext cx="-989867" cy="-571500"/>
          </a:xfrm>
          <a:prstGeom prst="line">
            <a:avLst/>
          </a:prstGeom>
          <a:noFill/>
          <a:ln w="1587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59573" y="3360420"/>
            <a:ext cx="0" cy="-1143000"/>
          </a:xfrm>
          <a:prstGeom prst="line">
            <a:avLst/>
          </a:prstGeom>
          <a:noFill/>
          <a:ln w="1587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59573" y="2217420"/>
            <a:ext cx="989867" cy="-571500"/>
          </a:xfrm>
          <a:prstGeom prst="line">
            <a:avLst/>
          </a:prstGeom>
          <a:noFill/>
          <a:ln w="15875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93992" y="14904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83859" y="20619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783859" y="32049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93992" y="37764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804125" y="32049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804125" y="2061972"/>
            <a:ext cx="310896" cy="3108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554480"/>
            <a:ext cx="182880" cy="182880"/>
          </a:xfrm>
          <a:prstGeom prst="rect">
            <a:avLst/>
          </a:prstGeom>
        </p:spPr>
      </p:pic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867" y="2125980"/>
            <a:ext cx="182880" cy="182880"/>
          </a:xfrm>
          <a:prstGeom prst="rect">
            <a:avLst/>
          </a:prstGeom>
        </p:spPr>
      </p:pic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867" y="3268980"/>
            <a:ext cx="182880" cy="182880"/>
          </a:xfrm>
          <a:prstGeom prst="rect">
            <a:avLst/>
          </a:prstGeom>
        </p:spPr>
      </p:pic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840480"/>
            <a:ext cx="182880" cy="182880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8133" y="3268980"/>
            <a:ext cx="182880" cy="182880"/>
          </a:xfrm>
          <a:prstGeom prst="rect">
            <a:avLst/>
          </a:prstGeom>
        </p:spPr>
      </p:pic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8133" y="2125980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576072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sem nó mestre</a:t>
            </a:r>
            <a:endParaRPr lang="en-US" sz="1100" dirty="0"/>
          </a:p>
        </p:txBody>
      </p:sp>
      <p:sp>
        <p:nvSpPr>
          <p:cNvPr id="37" name="Text 25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  ·  1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dados em colunas largas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um banco relacional, a modelagem no Cassandra foca em colunas largas (wide columns), priorizando a velocidade de leitura para consultas específicas e já conhecidas — não a normalização de entidades.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46888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971800"/>
          <a:ext cx="1645920" cy="82296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id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titulo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Matrix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Duna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2606040" y="30175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tabelas separadas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categorias, elenco,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avaliações... (com JOIN)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09160" y="2468880"/>
            <a:ext cx="3886200" cy="201168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3776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Largas (Cassandra)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2971800"/>
          <a:ext cx="3429000" cy="82296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titulo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categoria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elenco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avaliacao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Matrix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Ficção...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1999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[Keanu...]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</a:rPr>
                        <a:t>9.0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5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4937760" y="38862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linha já traz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a consulta precisa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JOIN)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  ·  2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Desnormalização: sem JOINs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mesmos dados são duplicados de forma proposital entre tabelas diferentes, cada uma otimizada para responder a uma consulta específica da aplicação.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22960" y="260604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60604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“Matrix”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12080" y="196596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19659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filmes_por_categoria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88920" y="2153412"/>
            <a:ext cx="2103120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12080" y="274320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212080" y="27432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filmes_por_ano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88920" y="2930652"/>
            <a:ext cx="2103120" cy="2194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212080" y="3520440"/>
            <a:ext cx="2880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5212080" y="35204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filmes_por_titulo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88920" y="3707892"/>
            <a:ext cx="2103120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informação aparece nas 3 tabelas, em formatos diferentes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  ·  3 DE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CQL — Cassandra Query Language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usada para interagir com o Cassandra tem sintaxe muito semelhante ao SQL tradicional — o que facilita bastante o aprendizado para quem já programa com bancos relacionais.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3886200" cy="2057400"/>
          </a:xfrm>
          <a:prstGeom prst="roundRect">
            <a:avLst>
              <a:gd name="adj" fmla="val 3556"/>
            </a:avLst>
          </a:prstGeom>
          <a:solidFill>
            <a:srgbClr val="13243B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banco relacional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titulo, ano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categoria = 'Drama';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09160" y="2331720"/>
            <a:ext cx="3886200" cy="2057400"/>
          </a:xfrm>
          <a:prstGeom prst="roundRect">
            <a:avLst>
              <a:gd name="adj" fmla="val 3556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CQL  ·  Apache Cassandra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37760" y="288036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titulo, ano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filmes_por_categoria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categoria = 'Drama';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está na modelagem por trás — não na sintaxe do dia a dia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PRÁTICA  ·  CENÁRIO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filmes e séries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605686"/>
            <a:ext cx="309067" cy="3090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173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demonstrar o Cassandra na prática, modelamos o banco de dados de um pequeno catálogo de streaming — focando em modelagem de dados e operações de CRUD.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615550"/>
            <a:ext cx="218724" cy="2187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487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a partir das consultas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097280" y="278892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tabelas nascem das telas e perguntas da aplicação — não de um modelo entidade-relacionamento normalizado.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227832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328782"/>
            <a:ext cx="218724" cy="2187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200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simplificado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97280" y="350215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local via Docker, ou DataStax Astra DB (Cassandra gratuito na nuvem, sem infraestrutura própria).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042014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39136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reais em CQL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097280" y="421538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Inserção, busca, atualização e exclusão executadas e demonstradas ao vivo.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PRÁTICA  ·  TABELAS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tabela por consulta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3060" y="16184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172821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filmes_por_categoria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“Quais títulos existem nesta categoria?”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319272"/>
            <a:ext cx="2148840" cy="0"/>
          </a:xfrm>
          <a:prstGeom prst="line">
            <a:avLst/>
          </a:prstGeom>
          <a:noFill/>
          <a:ln w="12700">
            <a:solidFill>
              <a:srgbClr val="E2EA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410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35935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39227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KEY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85800" y="4105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ano, titulo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55848" y="141732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0268" y="16184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728216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93008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filmes_por_ano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3584448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que foi lançado neste ano?”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584448" y="3319272"/>
            <a:ext cx="2148840" cy="0"/>
          </a:xfrm>
          <a:prstGeom prst="line">
            <a:avLst/>
          </a:prstGeom>
          <a:noFill/>
          <a:ln w="12700">
            <a:solidFill>
              <a:srgbClr val="E2EAF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93008" y="3410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3493008" y="35935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493008" y="39227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KEY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493008" y="4105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163056" y="1417320"/>
            <a:ext cx="2606040" cy="3154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237476" y="161848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4" y="1728216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0216" y="2194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filmes_por_titulo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391656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“Detalhes deste título específico?”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391656" y="3319272"/>
            <a:ext cx="2148840" cy="0"/>
          </a:xfrm>
          <a:prstGeom prst="line">
            <a:avLst/>
          </a:prstGeom>
          <a:noFill/>
          <a:ln w="12700">
            <a:solidFill>
              <a:srgbClr val="E2EAF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00216" y="3410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300216" y="35935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300216" y="3922776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KEY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300216" y="4105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PRÁTICA  ·  CHAVES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 Key vs. Clustering Key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3108960"/>
          </a:xfrm>
          <a:prstGeom prst="roundRect">
            <a:avLst>
              <a:gd name="adj" fmla="val 2941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64792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350" y="186574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4650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 = 'Ficção Científica'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63040" y="22219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em qual nó físico do cluster os dados ficam armazenados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463040" y="2697480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13315C"/>
          </a:solidFill>
          <a:ln/>
        </p:spPr>
      </p:sp>
      <p:sp>
        <p:nvSpPr>
          <p:cNvPr id="10" name="Text 7"/>
          <p:cNvSpPr/>
          <p:nvPr/>
        </p:nvSpPr>
        <p:spPr>
          <a:xfrm>
            <a:off x="1645920" y="26974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423160" y="26974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463040" y="3154680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13315C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31546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423160" y="31546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463040" y="3611880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13315C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6118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2423160" y="3611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Stranger Things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1463040" y="4069080"/>
            <a:ext cx="5074920" cy="384048"/>
          </a:xfrm>
          <a:prstGeom prst="roundRect">
            <a:avLst>
              <a:gd name="adj" fmla="val 14286"/>
            </a:avLst>
          </a:prstGeom>
          <a:solidFill>
            <a:srgbClr val="13315C"/>
          </a:solidFill>
          <a:ln/>
        </p:spPr>
      </p:sp>
      <p:sp>
        <p:nvSpPr>
          <p:cNvPr id="19" name="Text 16"/>
          <p:cNvSpPr/>
          <p:nvPr/>
        </p:nvSpPr>
        <p:spPr>
          <a:xfrm>
            <a:off x="1645920" y="406908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1999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423160" y="40690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2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78892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812280" y="30998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KEY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812280" y="330098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 (DESC)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812280" y="35753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as linhas dentro da partição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CRUD  ·  CREATE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Inserindo um novo título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3 tabelas guardam os mesmos dados em formatos diferentes, a inserção é feita nas 3 de uma só vez, dentro de um BATCH.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7860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não é uma transação como no SQL — garante que as instruções sejam aplicadas em conjunto, sem isolamento entre transações concorrentes.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325880"/>
            <a:ext cx="3840480" cy="3337560"/>
          </a:xfrm>
          <a:prstGeom prst="roundRect">
            <a:avLst>
              <a:gd name="adj" fmla="val 2192"/>
            </a:avLst>
          </a:prstGeom>
          <a:solidFill>
            <a:srgbClr val="13243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554480"/>
            <a:ext cx="32918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5D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BATCH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filmes_por_categoria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(categoria, ano, titulo, ...)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('Ficção Científica',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2021, 'Duna', ...);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filmes_por_ano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(ano, titulo, ...)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(2021, 'Duna', ...);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filmes_por_titulo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(titulo, ...)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('Duna', ...);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dirty="0">
                <a:solidFill>
                  <a:srgbClr val="5D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BATCH;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CRUD  ·  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Consultando o catálogo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132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3619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499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C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EFICIENTE — usa a partition key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titulo, ano, avaliacao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filmes_por_categoria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categoria = 'Ficção Científica' AND ano &gt;= 2014;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13243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27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31912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EM PRODUÇÃO — sem partition key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77240" y="35661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filmes_por_titulo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98E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categoria = 'Drama' ALLOW FILTERING;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6E8D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exige varredura distribuída em todos os nós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CRUD  ·  UPDATE &amp; DELETE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Atualizando e removendo dados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1324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1687982"/>
            <a:ext cx="190195" cy="1901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103120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filmes_por_titulo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avaliacao = 9.0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titulo = 'Matrix';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filmes_por_titulo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elenco = elenco 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['Carrie-Anne Moss']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titulo = 'Matrix';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3886200" cy="3154680"/>
          </a:xfrm>
          <a:prstGeom prst="roundRect">
            <a:avLst>
              <a:gd name="adj" fmla="val 2319"/>
            </a:avLst>
          </a:prstGeom>
          <a:solidFill>
            <a:srgbClr val="13243B"/>
          </a:solidFill>
          <a:ln/>
        </p:spPr>
      </p:sp>
      <p:sp>
        <p:nvSpPr>
          <p:cNvPr id="10" name="Shape 7"/>
          <p:cNvSpPr/>
          <p:nvPr/>
        </p:nvSpPr>
        <p:spPr>
          <a:xfrm>
            <a:off x="4937760" y="1600200"/>
            <a:ext cx="365760" cy="3657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542" y="1687982"/>
            <a:ext cx="190195" cy="1901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2103120"/>
            <a:ext cx="3429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BATCH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DELETE FROM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filmes_por_categoria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categoria='Comédia'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AND ano=2005 AND titulo=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'The Office';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(demais tabelas)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D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BATCH;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&amp; ENTREGA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tudo está reproduzível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8288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19604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via Docker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local, sem dependência de internet, ideal para gravar a demonstração.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5544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4548" y="18288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222" y="19604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DataStax Astra DB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84448" y="3063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gratuita do Cassandra na nuvem — sem instalar infraestrutura.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55448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1756" y="182880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430" y="19604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no GitHub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91656" y="30632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Proposta, scripts .cql, dados de teste e guia de execução, tudo versionado.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vale a pena usar o Cassandra?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Cassandra troca a normalização e os JOINs do modelo relacional por </a:t>
            </a:r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horizontal massiva, alta disponibilidade e leitura extremamente rápida</a:t>
            </a:r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Não existe “melhor banco” — existe o banco certo para cada problema.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EAF8F0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328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22" y="2620670"/>
            <a:ext cx="190195" cy="190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encaixe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volumes de escrita e leitura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previsíveis e bem definidas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1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contínua, vários datacenters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2331720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FCEFEA"/>
          </a:solidFill>
          <a:ln/>
          <a:effectLst>
            <a:outerShdw sx="100000" sy="100000" kx="0" ky="0" algn="bl" rotWithShape="0" blurRad="101600" dist="38100" dir="5400000">
              <a:srgbClr val="0B254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532888"/>
            <a:ext cx="365760" cy="365760"/>
          </a:xfrm>
          <a:prstGeom prst="ellipse">
            <a:avLst/>
          </a:prstGeom>
          <a:solidFill>
            <a:srgbClr val="C057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542" y="2620670"/>
            <a:ext cx="190195" cy="1901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 indicado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0" y="3063240"/>
            <a:ext cx="3337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8C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ad-hoc e relatórios variados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8C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forte de JOINs e transações ACID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✦"/>
            </a:pPr>
            <a:r>
              <a:rPr lang="en-US" sz="1200" dirty="0">
                <a:solidFill>
                  <a:srgbClr val="8C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pequeno, baixa exigência de escala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consultada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775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459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 PROJECT. </a:t>
            </a:r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Cassandra Documentation. </a:t>
            </a:r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em: cassandra.apache.org/doc/latest. Acesso em: 25 jun. 2026.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completo do seminário (proposta, scripts .cql, dados de teste e guia de execução) disponível no GitHub da equipe.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8720" y="228600"/>
            <a:ext cx="679161" cy="327067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67881" y="555667"/>
            <a:ext cx="167739" cy="734913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5620" y="1290579"/>
            <a:ext cx="-469994" cy="589354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65626" y="1879934"/>
            <a:ext cx="-753812" cy="0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1814" y="1879934"/>
            <a:ext cx="-469994" cy="-589354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820" y="1290579"/>
            <a:ext cx="167739" cy="-734913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9559" y="555667"/>
            <a:ext cx="679161" cy="-327067"/>
          </a:xfrm>
          <a:prstGeom prst="line">
            <a:avLst/>
          </a:prstGeom>
          <a:noFill/>
          <a:ln w="15875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155448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94729" y="482515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2468" y="1217427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92474" y="1806782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662" y="1806782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668" y="1217427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6407" y="482515"/>
            <a:ext cx="146304" cy="146304"/>
          </a:xfrm>
          <a:prstGeom prst="ellipse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1828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sobre o Apache Cassandra ou a demonstração prática?</a:t>
            </a:r>
            <a:endParaRPr lang="en-US" sz="17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70832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87552" y="43342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Kaio Márcio Araújo Cavalcante Lira   ·   Jose Guilherme Silva de Araujo   ·   Leandro Sergio da Silva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366760" y="48646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Cassandra — Proposta de Seminário</dc:title>
  <dc:subject>PptxGenJS Presentation</dc:subject>
  <dc:creator>Kaio Márcio Araújo Cavalcante Lira, Jose Guilherme Silva de Araujo, Leandro Sergio da Silva</dc:creator>
  <cp:lastModifiedBy>Kaio Márcio Araújo Cavalcante Lira, Jose Guilherme Silva de Araujo, Leandro Sergio da Silva</cp:lastModifiedBy>
  <cp:revision>1</cp:revision>
  <dcterms:created xsi:type="dcterms:W3CDTF">2026-06-29T21:37:00Z</dcterms:created>
  <dcterms:modified xsi:type="dcterms:W3CDTF">2026-06-29T21:37:00Z</dcterms:modified>
</cp:coreProperties>
</file>